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8" r:id="rId7"/>
    <p:sldId id="269" r:id="rId8"/>
    <p:sldId id="270" r:id="rId9"/>
    <p:sldId id="271" r:id="rId10"/>
    <p:sldId id="276" r:id="rId11"/>
    <p:sldId id="277" r:id="rId12"/>
    <p:sldId id="278" r:id="rId13"/>
    <p:sldId id="279" r:id="rId14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2000AA1-84D1-66D6-0FDA-3B1A9D69604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544008" y="6126161"/>
            <a:ext cx="585469" cy="7318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D6C9CC-B9C2-8884-9E77-3704110F8CB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2523" y="6126162"/>
            <a:ext cx="585469" cy="73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250567-8023-2AB2-D735-F0021F82BC1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876100" y="6330895"/>
            <a:ext cx="6439799" cy="39058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20040" y="255634"/>
            <a:ext cx="749807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rgbClr val="000000"/>
                </a:solidFill>
              </a:rPr>
              <a:t>ECN OFFENSIVE</a:t>
            </a:r>
            <a:br>
              <a:rPr dirty="0"/>
            </a:br>
            <a:r>
              <a:rPr dirty="0">
                <a:solidFill>
                  <a:srgbClr val="000000"/>
                </a:solidFill>
              </a:rPr>
              <a:t>TENDENCY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444354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DCE4"/>
                </a:solidFill>
              </a:defRPr>
            </a:pPr>
            <a:r>
              <a:rPr dirty="0">
                <a:solidFill>
                  <a:srgbClr val="000000"/>
                </a:solidFill>
              </a:rPr>
              <a:t>ODK = O only • Eau Claire Memorial + DCE games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AD11D4-77EB-BFA7-8FE0-253D44B022B4}"/>
              </a:ext>
            </a:extLst>
          </p:cNvPr>
          <p:cNvSpPr txBox="1"/>
          <p:nvPr/>
        </p:nvSpPr>
        <p:spPr>
          <a:xfrm>
            <a:off x="320040" y="3103791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000000"/>
                </a:solidFill>
              </a:rPr>
              <a:t>Executive Snapshot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D2030D-283B-88C8-66B8-D962E4F15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233783"/>
              </p:ext>
            </p:extLst>
          </p:nvPr>
        </p:nvGraphicFramePr>
        <p:xfrm>
          <a:off x="952346" y="4457103"/>
          <a:ext cx="10287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Identity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Point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Coach Takeaway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Base call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73% 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Load the box first; make throws win the game.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Top personnel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20P • 58 snaps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 run in most-used grouping.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Top formation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 • 39 snaps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62% run / 38% pass.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Most called play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COUNTER • 23x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21% of all O snaps.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5DED3B-C39F-11FB-36FB-74CBB5FF4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79015"/>
              </p:ext>
            </p:extLst>
          </p:nvPr>
        </p:nvGraphicFramePr>
        <p:xfrm>
          <a:off x="952346" y="3596772"/>
          <a:ext cx="10287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TOTAL PLAYS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 RATE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 RATE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EFF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EXPLOSIVE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112 | scouted snaps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73% | 82 runs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27% | 30 passes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20 | 18%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2296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000000"/>
                </a:solidFill>
              </a:rP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DCE4"/>
                </a:solidFill>
              </a:defRPr>
            </a:pPr>
            <a:r>
              <a:rPr>
                <a:solidFill>
                  <a:srgbClr val="000000"/>
                </a:solidFill>
              </a:rPr>
              <a:t>ODK = O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354546"/>
              </p:ext>
            </p:extLst>
          </p:nvPr>
        </p:nvGraphicFramePr>
        <p:xfrm>
          <a:off x="952346" y="1435608"/>
          <a:ext cx="10287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Identity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Point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Coach Takeaway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Base call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73% 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Load the box first; make throws win the game.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Top personnel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20P • 58 snaps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 run in most-used grouping.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Top formation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 • 39 snaps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62% run / 38% pass.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Most called play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COUNTER • 23x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21% of all O snaps.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203317"/>
              </p:ext>
            </p:extLst>
          </p:nvPr>
        </p:nvGraphicFramePr>
        <p:xfrm>
          <a:off x="952346" y="575277"/>
          <a:ext cx="10287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TOTAL PLAYS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 RATE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 RATE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EFF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EXPLOSIVE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112 | scouted snaps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73% | 82 runs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27% | 30 passes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20 | 18%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2296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000000"/>
                </a:solidFill>
              </a:rPr>
              <a:t>Part 1 — Run / Pass Tendencies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19791" y="109728"/>
            <a:ext cx="36740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DCE4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ALL</a:t>
            </a:r>
            <a:endParaRPr dirty="0">
              <a:solidFill>
                <a:srgbClr val="00000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90330"/>
              </p:ext>
            </p:extLst>
          </p:nvPr>
        </p:nvGraphicFramePr>
        <p:xfrm>
          <a:off x="393532" y="881800"/>
          <a:ext cx="4464796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78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78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78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78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/>
                        </a:rPr>
                        <a:t>Pers.</a:t>
                      </a:r>
                      <a:endParaRPr sz="12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Snaps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58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4.6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92%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3.8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56%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-10.0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70470"/>
              </p:ext>
            </p:extLst>
          </p:nvPr>
        </p:nvGraphicFramePr>
        <p:xfrm>
          <a:off x="393532" y="2270188"/>
          <a:ext cx="4316355" cy="1484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57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5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Backfield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Snaps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36%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5.5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+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28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64%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36%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2.2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JACK +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4.7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285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KING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0.9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JACK -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12%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3.5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SNIFFER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75%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25%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9.5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QUEEN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4.3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EMPTY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-10.0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8D7FE9-5452-D880-3489-938758DA1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443900"/>
              </p:ext>
            </p:extLst>
          </p:nvPr>
        </p:nvGraphicFramePr>
        <p:xfrm>
          <a:off x="5457897" y="881800"/>
          <a:ext cx="5168184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D&amp;D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Snaps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EFF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1st &amp; 10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38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1st &amp; 11+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1st &amp; &lt;10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-1.8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8+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43%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7.8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4-7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4.2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1-3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86%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14%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6.1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86%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3rd &amp; 8+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86%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3.4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3rd &amp; 4-7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43%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3.4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3rd &amp; 1-3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12%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1.9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62%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4th &amp; 8+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-10.0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4th &amp; 1-3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1.2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50%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21613CB-8F60-F59D-48DF-E28C2C490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705492"/>
              </p:ext>
            </p:extLst>
          </p:nvPr>
        </p:nvGraphicFramePr>
        <p:xfrm>
          <a:off x="5457897" y="3064969"/>
          <a:ext cx="4531765" cy="487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7440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P&amp;10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Snaps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66%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4.3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38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87%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13%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3.0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BCE7E50-C814-057B-A0C6-43997BF07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042948"/>
              </p:ext>
            </p:extLst>
          </p:nvPr>
        </p:nvGraphicFramePr>
        <p:xfrm>
          <a:off x="393532" y="4165689"/>
          <a:ext cx="490366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7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9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Zone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Snaps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EFF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Backed Up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-0.7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 Down Territory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45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73%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27%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5.4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51%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Midfield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17.0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 Down Territory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36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33%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3.4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High Red Zone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4.5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60%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Low Red Zone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3.5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Goal Line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0.6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44%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2962A41-ECE2-ED10-8D42-15A8F7A72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209782"/>
              </p:ext>
            </p:extLst>
          </p:nvPr>
        </p:nvGraphicFramePr>
        <p:xfrm>
          <a:off x="5902475" y="4165689"/>
          <a:ext cx="4903669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7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9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Zone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Snaps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EFF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Backed Up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-0.7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 Down Territory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45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73%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27%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5.4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51%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Midfield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17.0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 Down Territory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36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33%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3.4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High Red Zone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4.5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60%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Low Red Zone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3.5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Goal Line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0.6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44%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2296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000000"/>
                </a:solidFill>
              </a:rPr>
              <a:t>Part 2 — Formation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DCE4"/>
                </a:solidFill>
              </a:defRPr>
            </a:pPr>
            <a:r>
              <a:rPr>
                <a:solidFill>
                  <a:srgbClr val="000000"/>
                </a:solidFill>
              </a:rPr>
              <a:t>Most-used formations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754427"/>
              </p:ext>
            </p:extLst>
          </p:nvPr>
        </p:nvGraphicFramePr>
        <p:xfrm>
          <a:off x="226785" y="982195"/>
          <a:ext cx="6528816" cy="2289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Formation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Snaps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Top Play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62%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DROP BACK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TRACE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26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24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92%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COUNTER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TRIO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79%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21%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POWER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DEUCE SLOT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91%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POWER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EMPTY YO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COUNTER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TRIPS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33%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ROLLOUT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PRO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POWER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EMPTY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DROP BACK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TRIPS NUB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DROP BACK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DUB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POWER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DOUBLES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POWER READ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344283"/>
              </p:ext>
            </p:extLst>
          </p:nvPr>
        </p:nvGraphicFramePr>
        <p:xfrm>
          <a:off x="7414662" y="982195"/>
          <a:ext cx="3696684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Formation / Motion / Play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Calls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TRACE / - / COUNTER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TRACE / - / DUO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 / - / DROP BACK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DEUCE SLOT / - / POWER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 / F JET / POWER READ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TRIO / - / COUNTER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TRIO / - / POWER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 / - / POWER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TRACE / - / SWEEP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 / - / QUICK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4%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91AAD6-9C1B-AB69-B95A-F634878D932E}"/>
              </a:ext>
            </a:extLst>
          </p:cNvPr>
          <p:cNvSpPr/>
          <p:nvPr/>
        </p:nvSpPr>
        <p:spPr>
          <a:xfrm>
            <a:off x="9674352" y="1955153"/>
            <a:ext cx="1969931" cy="1688038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000000"/>
                </a:solidFill>
              </a:rPr>
              <a:t>Formation Detail — DUO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DCE4"/>
                </a:solidFill>
              </a:defRPr>
            </a:pPr>
            <a:r>
              <a:rPr>
                <a:solidFill>
                  <a:srgbClr val="000000"/>
                </a:solidFill>
              </a:rPr>
              <a:t>Top plays + routes + motion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933543"/>
              </p:ext>
            </p:extLst>
          </p:nvPr>
        </p:nvGraphicFramePr>
        <p:xfrm>
          <a:off x="248565" y="1023043"/>
          <a:ext cx="3131944" cy="807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Run Plays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Calls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SWEEP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29%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4.1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POWER READ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25%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6.7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POWER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21%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9.0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784656"/>
              </p:ext>
            </p:extLst>
          </p:nvPr>
        </p:nvGraphicFramePr>
        <p:xfrm>
          <a:off x="248565" y="2140804"/>
          <a:ext cx="3122708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Routes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Calls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FAZE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4.7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VERTS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-0.5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543693"/>
              </p:ext>
            </p:extLst>
          </p:nvPr>
        </p:nvGraphicFramePr>
        <p:xfrm>
          <a:off x="248565" y="3099816"/>
          <a:ext cx="3094999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Boundary Routes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Calls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POST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FADE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-3.7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OUT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4.0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937002"/>
              </p:ext>
            </p:extLst>
          </p:nvPr>
        </p:nvGraphicFramePr>
        <p:xfrm>
          <a:off x="533857" y="4902661"/>
          <a:ext cx="2589580" cy="329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Motion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Pass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Form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F JET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33%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875525"/>
              </p:ext>
            </p:extLst>
          </p:nvPr>
        </p:nvGraphicFramePr>
        <p:xfrm>
          <a:off x="105919" y="3961107"/>
          <a:ext cx="3445456" cy="49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Backfield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Form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51%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+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74%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26%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49%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9674352" y="2057400"/>
            <a:ext cx="1874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84B6E"/>
                </a:solidFill>
              </a:defRPr>
            </a:pPr>
            <a:r>
              <a:rPr>
                <a:solidFill>
                  <a:srgbClr val="000000"/>
                </a:solidFill>
              </a:rPr>
              <a:t>ALERT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313432"/>
            <a:ext cx="1874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9232D"/>
                </a:solidFill>
              </a:defRPr>
            </a:pPr>
            <a:r>
              <a:rPr>
                <a:solidFill>
                  <a:srgbClr val="000000"/>
                </a:solidFill>
              </a:rPr>
              <a:t>DROP 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18211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9232D"/>
                </a:solidFill>
              </a:defRPr>
            </a:pPr>
            <a:r>
              <a:rPr>
                <a:solidFill>
                  <a:srgbClr val="000000"/>
                </a:solidFill>
              </a:rPr>
              <a:t>21% of DUO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740758"/>
              </p:ext>
            </p:extLst>
          </p:nvPr>
        </p:nvGraphicFramePr>
        <p:xfrm>
          <a:off x="248565" y="493776"/>
          <a:ext cx="316016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0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EFF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24 / 62%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15 / 38%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46%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2296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000000"/>
                </a:solidFill>
              </a:rPr>
              <a:t>Part 3 — Explosive Plays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DCE4"/>
                </a:solidFill>
              </a:defRPr>
            </a:pPr>
            <a:r>
              <a:rPr>
                <a:solidFill>
                  <a:srgbClr val="000000"/>
                </a:solidFill>
              </a:rPr>
              <a:t>Run &gt;10 • Pass &gt;15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938269"/>
              </p:ext>
            </p:extLst>
          </p:nvPr>
        </p:nvGraphicFramePr>
        <p:xfrm>
          <a:off x="320040" y="649224"/>
          <a:ext cx="4871920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7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Explosive Type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% of All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Avg Gain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19.4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17.0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All Explosives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12%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19.0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316358"/>
              </p:ext>
            </p:extLst>
          </p:nvPr>
        </p:nvGraphicFramePr>
        <p:xfrm>
          <a:off x="6456459" y="1959996"/>
          <a:ext cx="4357315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7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Explosive Runs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D&amp;D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Gain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TRACE / - / COUNTER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8+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 / - / POWER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2nd &amp; 4-7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TRIO / - / COUNTER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1st &amp; 10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 / - / POWER READ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1-3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TRIO / - / COUNTER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8+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TRACE / - / COUNTER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3rd &amp; 4-7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 / F JET / POWER READ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8+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 / - / TRICK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8+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055994"/>
              </p:ext>
            </p:extLst>
          </p:nvPr>
        </p:nvGraphicFramePr>
        <p:xfrm>
          <a:off x="304800" y="1961984"/>
          <a:ext cx="5712278" cy="487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Explosive Passes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D&amp;D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Gain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TRIPS NUB / - / DROP BACK / WHEEL / PIG / -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3rd &amp; 8+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 / - / PLAY ACTION / NOW 2 / VERT/POP PASS / -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8+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17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2296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000000"/>
                </a:solidFill>
              </a:rPr>
              <a:t>Part 4 — Run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DCE4"/>
                </a:solidFill>
              </a:defRPr>
            </a:pPr>
            <a:r>
              <a:rPr>
                <a:solidFill>
                  <a:srgbClr val="000000"/>
                </a:solidFill>
              </a:rPr>
              <a:t>Play direction vs. offensive strength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97783" y="603504"/>
          <a:ext cx="5596128" cy="1630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 Play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L/Str L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L/Str R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R/Str R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R/Str L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To Str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COUNTER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 / 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 / 26%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 / 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 / 9%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POWER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 / 15%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 / 10%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 / 5%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 / 20%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SWEEP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 / 15%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 / 31%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 / 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 / 15%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 / 11%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 / 67%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 / 11%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 / 11%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22%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POWER READ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 / 25%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 / 38%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 / 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 / 12%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TRICK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 / 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 / 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 / 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 / 33%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DRAW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 / 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 / 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 / 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 / 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QB SNEAK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 / 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 / 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 / 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 / 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2296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000000"/>
                </a:solidFill>
              </a:rPr>
              <a:t>Part 5 — Touch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DCE4"/>
                </a:solidFill>
              </a:defRPr>
            </a:pPr>
            <a:r>
              <a:rPr>
                <a:solidFill>
                  <a:srgbClr val="000000"/>
                </a:solidFill>
              </a:rPr>
              <a:t>Who gets the ball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81073" y="603504"/>
          <a:ext cx="6029548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Player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Touches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Touch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EFF 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Explosive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Top Play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11.0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4.2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COUNTER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16.0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24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24%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POWER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3.5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31%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QUICK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5.2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33%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SWEEP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7.2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COUNTER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21.0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-0.3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POWER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5.7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ROLLOUT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42.0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9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ROLLOUT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2296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000000"/>
                </a:solidFill>
              </a:rPr>
              <a:t>Part 6 — Situation Analysis: 1st &amp;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DCE4"/>
                </a:solidFill>
              </a:defRPr>
            </a:pPr>
            <a:r>
              <a:rPr>
                <a:solidFill>
                  <a:srgbClr val="000000"/>
                </a:solidFill>
              </a:rPr>
              <a:t>Run/Pass • Top calls • Efficiency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25133"/>
              </p:ext>
            </p:extLst>
          </p:nvPr>
        </p:nvGraphicFramePr>
        <p:xfrm>
          <a:off x="320040" y="2505456"/>
          <a:ext cx="3445456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Top Plays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EFF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COUNTER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26%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4.4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POWER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18%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29%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3.7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SWEEP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3.1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653782"/>
              </p:ext>
            </p:extLst>
          </p:nvPr>
        </p:nvGraphicFramePr>
        <p:xfrm>
          <a:off x="320040" y="1421892"/>
          <a:ext cx="3730752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Formations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EFF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46%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2.6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TRACE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26%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0.6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TRIO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24%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5.1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616375"/>
              </p:ext>
            </p:extLst>
          </p:nvPr>
        </p:nvGraphicFramePr>
        <p:xfrm>
          <a:off x="7162316" y="1421892"/>
          <a:ext cx="3445456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1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Personnel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EFF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3.6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39%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33%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2.2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779082"/>
              </p:ext>
            </p:extLst>
          </p:nvPr>
        </p:nvGraphicFramePr>
        <p:xfrm>
          <a:off x="7162316" y="2505456"/>
          <a:ext cx="2874872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Players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EFF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11.0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4.1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16.0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34%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31%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2.6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1.8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979787"/>
              </p:ext>
            </p:extLst>
          </p:nvPr>
        </p:nvGraphicFramePr>
        <p:xfrm>
          <a:off x="7162316" y="3702692"/>
          <a:ext cx="4301336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5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Routes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EFF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HITCH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7.5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OVER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3%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-11.0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SLANT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5.0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548773"/>
              </p:ext>
            </p:extLst>
          </p:nvPr>
        </p:nvGraphicFramePr>
        <p:xfrm>
          <a:off x="177392" y="3706639"/>
          <a:ext cx="5157216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Boundary Routes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EFF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YPP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HITCH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HAG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3%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5.0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HITCHES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4.0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65314"/>
              </p:ext>
            </p:extLst>
          </p:nvPr>
        </p:nvGraphicFramePr>
        <p:xfrm>
          <a:off x="1594410" y="4699022"/>
          <a:ext cx="900318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Top Overall Playcalls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Calls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TRACE / - / JACK + / - / COUNTER / -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 / - / + / F JET / POWER READ / QB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DEUCE SLOT / - / JACK - / - / POWER / -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TRIO / - / - / - / QUICK / -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TRACE / - / KING / - / SWEEP / QB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271361"/>
              </p:ext>
            </p:extLst>
          </p:nvPr>
        </p:nvGraphicFramePr>
        <p:xfrm>
          <a:off x="320040" y="612648"/>
          <a:ext cx="487192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7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SNAPS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EFF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38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87% | 33 calls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13% | 5 calls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58% efficient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2296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000000"/>
                </a:solidFill>
              </a:rPr>
              <a:t>Part 7 — What's Next: Best Predictive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DCE4"/>
                </a:solidFill>
              </a:defRPr>
            </a:pPr>
            <a:r>
              <a:rPr>
                <a:solidFill>
                  <a:srgbClr val="000000"/>
                </a:solidFill>
              </a:rPr>
              <a:t>Personnel → Formation → Zone/D&amp;D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603504"/>
          <a:ext cx="11368734" cy="2992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4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4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4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47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47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Slice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Snaps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R/P Lean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Most Likely Play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Play Conf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21P / TRACE / 4 Down Territory / 1st &amp; 10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COUNTER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20P / TRIO / 3 Down Territory / 1st &amp; 10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COUNTER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20P / DUO / High Red Zone / 1st &amp; 10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SWEEP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20P / DUO / 3 Down Territory / 2nd &amp; 8+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DROP BACK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20P / DUO / 3 Down Territory / 2nd &amp; 4-7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POWER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20P / DUO / 4 Down Territory / 1st &amp; 10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SWEEP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20P / DUO / 3 Down Territory / 1st &amp; 10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SWEEP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20P / DUO / 4 Down Territory / 2nd &amp; 4-7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QUICK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21P / DEUCE SLOT / 4 Down Territory / 1st &amp; 10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POWER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2296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000000"/>
                </a:solidFill>
              </a:rPr>
              <a:t>Screen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DCE4"/>
                </a:solidFill>
              </a:defRPr>
            </a:pPr>
            <a:r>
              <a:rPr>
                <a:solidFill>
                  <a:srgbClr val="000000"/>
                </a:solidFill>
              </a:rPr>
              <a:t>Where screens show up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699604"/>
              </p:ext>
            </p:extLst>
          </p:nvPr>
        </p:nvGraphicFramePr>
        <p:xfrm>
          <a:off x="3337560" y="2399704"/>
          <a:ext cx="5394960" cy="329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Coach Note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3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No OFF PLAY or PLAY TAG entries contained “screen” in the ODK = O sample.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594049" y="603504"/>
          <a:ext cx="500359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SCREEN CALLS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NOTE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No screen-tagged plays in upload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82296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000000"/>
                </a:solidFill>
              </a:rPr>
              <a:t>Predictability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DCE4"/>
                </a:solidFill>
              </a:defRPr>
            </a:pPr>
            <a:r>
              <a:rPr>
                <a:solidFill>
                  <a:srgbClr val="000000"/>
                </a:solidFill>
              </a:rPr>
              <a:t>Run/Pass tendency grading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965428"/>
              </p:ext>
            </p:extLst>
          </p:nvPr>
        </p:nvGraphicFramePr>
        <p:xfrm>
          <a:off x="1802740" y="1865376"/>
          <a:ext cx="8586215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7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72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Situation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Snaps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Lean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Score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1st &amp; 10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38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Highly Predictable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8+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Balanced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4-7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75%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Strong Tendency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3rd &amp; 1-3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88%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Highly Predictable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3rd &amp; 8+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86%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Highly Predictable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3rd &amp; 4-7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Balanced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1-3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86%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Highly Predictable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1st &amp; &lt;10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Highly Predictable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02740" y="603504"/>
          <a:ext cx="8586215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7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72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Formation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Snaps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Lean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Score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DUO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62%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Slight Tendency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TRACE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26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92%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Extremely Predictable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TRIO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79%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Strong Tendency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DEUCE SLOT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91%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Extremely Predictable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EMPTY YO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Slight Tendency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TRIPS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Slight Tendency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02740" y="3419856"/>
          <a:ext cx="8586215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7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72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D&amp;D + Formation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Snaps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Lean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Conf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Score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1st &amp; 10 / TRACE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Extremely Predictable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3rd &amp; 1-3 / TRACE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Extremely Predictable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8+ / TRIO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Extremely Predictable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1st &amp; 10 / DUO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85%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Highly Predictable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1st &amp; 10 / DEUCE SLOT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Highly Predictable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8+ / TRACE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Highly Predictable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1st &amp; 10 / TRIO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78%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Strong Tendency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8+ / DUO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71%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Strong Tendency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8+ / EMPTY YO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Slight Tendency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2nd &amp; 4-7 / DUO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Slight Tendency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325880"/>
            <a:ext cx="749807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>
                <a:solidFill>
                  <a:srgbClr val="000000"/>
                </a:solidFill>
              </a:rPr>
              <a:t>DEFENSIVE PLAN</a:t>
            </a:r>
            <a:br/>
            <a:r>
              <a:rPr>
                <a:solidFill>
                  <a:srgbClr val="000000"/>
                </a:solidFill>
              </a:rPr>
              <a:t>BUILT FROM TENDENCIES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1460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4DCE4"/>
                </a:solidFill>
              </a:defRPr>
            </a:pPr>
            <a:r>
              <a:rPr>
                <a:solidFill>
                  <a:srgbClr val="000000"/>
                </a:solidFill>
              </a:rPr>
              <a:t>Make them play left-handed. Win early downs. Alert the predictable slices.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52140" y="3355848"/>
          <a:ext cx="6287414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Highest-Value Alerts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Action</a:t>
                      </a:r>
                    </a:p>
                  </a:txBody>
                  <a:tcPr marL="18288" marR="18288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21P / TRACE / 4 Down Territory / 1st &amp; 10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 lean 100%; top play COUNTER (60%).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Most-used personnel: 20P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67% run across 58 snaps.</a:t>
                      </a:r>
                    </a:p>
                  </a:txBody>
                  <a:tcPr marL="18288" marR="18288" marT="0" marB="0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Most-used formation: DUO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9232D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62% run across 39 snaps.</a:t>
                      </a:r>
                    </a:p>
                  </a:txBody>
                  <a:tcPr marL="18288" marR="18288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R.PQDPRESENTATIONID" val="40de0f5e-788f-4413-8809-f7c135fa49b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2295</Words>
  <Application>Microsoft Office PowerPoint</Application>
  <PresentationFormat>Widescreen</PresentationFormat>
  <Paragraphs>1081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Ryan Eigenberger</cp:lastModifiedBy>
  <cp:revision>2</cp:revision>
  <dcterms:created xsi:type="dcterms:W3CDTF">2013-01-27T09:14:16Z</dcterms:created>
  <dcterms:modified xsi:type="dcterms:W3CDTF">2026-07-29T16:00:44Z</dcterms:modified>
  <cp:category/>
</cp:coreProperties>
</file>